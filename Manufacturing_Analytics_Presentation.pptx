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200" b="1">
                <a:solidFill>
                  <a:srgbClr val="141A33"/>
                </a:solidFill>
              </a:rPr>
              <a:t>Processed vs Produced Quantity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E2761"/>
              </a:solidFill>
            </c:spPr>
            <c:extLst>
              <c:ext xmlns:c16="http://schemas.microsoft.com/office/drawing/2014/chart" uri="{C3380CC4-5D6E-409C-BE32-E72D297353CC}">
                <c16:uniqueId val="{00000001-1051-4B99-B2B3-F7999FB2C353}"/>
              </c:ext>
            </c:extLst>
          </c:dPt>
          <c:dPt>
            <c:idx val="1"/>
            <c:invertIfNegative val="1"/>
            <c:bubble3D val="0"/>
            <c:spPr>
              <a:solidFill>
                <a:srgbClr val="E3B04B"/>
              </a:solidFill>
            </c:spPr>
            <c:extLst>
              <c:ext xmlns:c16="http://schemas.microsoft.com/office/drawing/2014/chart" uri="{C3380CC4-5D6E-409C-BE32-E72D297353CC}">
                <c16:uniqueId val="{00000003-1051-4B99-B2B3-F7999FB2C35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41A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Processed_Qty</c:v>
                </c:pt>
                <c:pt idx="1">
                  <c:v>Produced_Qty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60022534</c:v>
                </c:pt>
                <c:pt idx="1">
                  <c:v>60050621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51-4B99-B2B3-F7999FB2C3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5B66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IN" sz="1200" b="1">
                <a:solidFill>
                  <a:srgbClr val="141A33"/>
                </a:solidFill>
              </a:rPr>
              <a:t>Machine Utilization (Processed ÷ Ordered)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ordered quantity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</c:spPr>
            <c:extLst>
              <c:ext xmlns:c16="http://schemas.microsoft.com/office/drawing/2014/chart" uri="{C3380CC4-5D6E-409C-BE32-E72D297353CC}">
                <c16:uniqueId val="{00000001-721F-4C98-ACA3-2AAAFED0605C}"/>
              </c:ext>
            </c:extLst>
          </c:dPt>
          <c:dPt>
            <c:idx val="1"/>
            <c:bubble3D val="0"/>
            <c:spPr>
              <a:solidFill>
                <a:srgbClr val="E3B04B"/>
              </a:solidFill>
            </c:spPr>
            <c:extLst>
              <c:ext xmlns:c16="http://schemas.microsoft.com/office/drawing/2014/chart" uri="{C3380CC4-5D6E-409C-BE32-E72D297353CC}">
                <c16:uniqueId val="{00000003-721F-4C98-ACA3-2AAAFED0605C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Processed</c:v>
                </c:pt>
                <c:pt idx="1">
                  <c:v>Not yet processed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80.099999999999994</c:v>
                </c:pt>
                <c:pt idx="1">
                  <c:v>19.899999999999999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1F-4C98-ACA3-2AAAFED060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6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108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P1413 MANUFACTURING ANALYTICS  •  PERFORMANCE REVIEW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Performance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study of production, quality, machine and cost performance, built across Excel, MySQL, Power BI and Tableau.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5166360"/>
            <a:ext cx="3840480" cy="0"/>
          </a:xfrm>
          <a:prstGeom prst="line">
            <a:avLst/>
          </a:prstGeom>
          <a:noFill/>
          <a:ln w="12700">
            <a:solidFill>
              <a:srgbClr val="5B66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85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5532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Analytics Project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5285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5532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Tuesday, 20 October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6172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0" descr="/home/claude/deck/assets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6281928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6199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971800" y="6172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deck/assets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628192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20440" y="6199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120640" y="6172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deck/assets/icons/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628192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69280" y="6199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269480" y="6172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deck/assets/icons/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208" y="628192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18120" y="6199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behind the Manufacturing Analytics project.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703320" cy="379476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606040"/>
            <a:ext cx="914400" cy="914400"/>
          </a:xfrm>
          <a:prstGeom prst="ellipse">
            <a:avLst/>
          </a:prstGeom>
          <a:solidFill>
            <a:srgbClr val="E3B04B"/>
          </a:solidFill>
          <a:ln/>
        </p:spPr>
      </p:sp>
      <p:pic>
        <p:nvPicPr>
          <p:cNvPr id="7" name="Image 0" descr="/home/claude/deck/assets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28072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7033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51206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Analytics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09160" y="233172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03520" y="2331720"/>
            <a:ext cx="6355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Shruti </a:t>
            </a:r>
            <a:r>
              <a:rPr lang="en-IN" b="1" dirty="0" err="1"/>
              <a:t>Jitri</a:t>
            </a:r>
            <a:endParaRPr lang="en-US" sz="1500" b="1" dirty="0"/>
          </a:p>
        </p:txBody>
      </p:sp>
      <p:sp>
        <p:nvSpPr>
          <p:cNvPr id="13" name="Shape 10"/>
          <p:cNvSpPr/>
          <p:nvPr/>
        </p:nvSpPr>
        <p:spPr>
          <a:xfrm>
            <a:off x="4709160" y="2843784"/>
            <a:ext cx="6949440" cy="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89864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03520" y="2898648"/>
            <a:ext cx="6355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Pragati Sanjay Pawar</a:t>
            </a:r>
            <a:endParaRPr lang="en-US" sz="1500" b="1" dirty="0"/>
          </a:p>
        </p:txBody>
      </p:sp>
      <p:sp>
        <p:nvSpPr>
          <p:cNvPr id="16" name="Shape 13"/>
          <p:cNvSpPr/>
          <p:nvPr/>
        </p:nvSpPr>
        <p:spPr>
          <a:xfrm>
            <a:off x="4709160" y="3410712"/>
            <a:ext cx="6949440" cy="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346557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03520" y="3465576"/>
            <a:ext cx="6355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M H Prashanth</a:t>
            </a:r>
            <a:endParaRPr lang="en-US" sz="1500" b="1" dirty="0"/>
          </a:p>
        </p:txBody>
      </p:sp>
      <p:sp>
        <p:nvSpPr>
          <p:cNvPr id="19" name="Shape 16"/>
          <p:cNvSpPr/>
          <p:nvPr/>
        </p:nvSpPr>
        <p:spPr>
          <a:xfrm>
            <a:off x="4709160" y="3977640"/>
            <a:ext cx="6949440" cy="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4032504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03520" y="4032504"/>
            <a:ext cx="6355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Nidhi Vinod </a:t>
            </a:r>
            <a:r>
              <a:rPr lang="en-IN" b="1" dirty="0" err="1"/>
              <a:t>Jamgade</a:t>
            </a:r>
            <a:endParaRPr lang="en-US" sz="1500" b="1" dirty="0"/>
          </a:p>
        </p:txBody>
      </p:sp>
      <p:sp>
        <p:nvSpPr>
          <p:cNvPr id="22" name="Shape 19"/>
          <p:cNvSpPr/>
          <p:nvPr/>
        </p:nvSpPr>
        <p:spPr>
          <a:xfrm>
            <a:off x="4709160" y="4544568"/>
            <a:ext cx="6949440" cy="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459943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03520" y="4599432"/>
            <a:ext cx="6355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N Pavani</a:t>
            </a:r>
            <a:endParaRPr lang="en-US" sz="1500" b="1" dirty="0"/>
          </a:p>
        </p:txBody>
      </p:sp>
      <p:sp>
        <p:nvSpPr>
          <p:cNvPr id="25" name="Shape 22"/>
          <p:cNvSpPr/>
          <p:nvPr/>
        </p:nvSpPr>
        <p:spPr>
          <a:xfrm>
            <a:off x="4709160" y="5111496"/>
            <a:ext cx="6949440" cy="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516636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303520" y="5166360"/>
            <a:ext cx="6355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Mrunali Murlidhar </a:t>
            </a:r>
            <a:r>
              <a:rPr lang="en-IN" b="1" dirty="0" err="1"/>
              <a:t>Mangutte</a:t>
            </a:r>
            <a:endParaRPr lang="en-IN" b="1" dirty="0"/>
          </a:p>
        </p:txBody>
      </p:sp>
      <p:sp>
        <p:nvSpPr>
          <p:cNvPr id="28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P1413 MANUFACTURING ANALYTICS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9E8662-A73F-9C5C-957B-79DE713DAEB0}"/>
              </a:ext>
            </a:extLst>
          </p:cNvPr>
          <p:cNvSpPr txBox="1"/>
          <p:nvPr/>
        </p:nvSpPr>
        <p:spPr>
          <a:xfrm>
            <a:off x="4691432" y="5688618"/>
            <a:ext cx="60975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BE1709EC-C74C-E499-39F4-3D6019EF252A}"/>
              </a:ext>
            </a:extLst>
          </p:cNvPr>
          <p:cNvSpPr/>
          <p:nvPr/>
        </p:nvSpPr>
        <p:spPr>
          <a:xfrm>
            <a:off x="4709160" y="5641848"/>
            <a:ext cx="6949440" cy="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9CCFB5C1-D87F-5A2D-3EAA-A49B87648711}"/>
              </a:ext>
            </a:extLst>
          </p:cNvPr>
          <p:cNvSpPr/>
          <p:nvPr/>
        </p:nvSpPr>
        <p:spPr>
          <a:xfrm>
            <a:off x="5303520" y="5619797"/>
            <a:ext cx="6355080" cy="464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Deepak Faujdar Chauhan</a:t>
            </a:r>
            <a:endParaRPr lang="en-US" sz="15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Analytics: Tools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connected tools carry the analysis from raw data to executive-ready dashboards.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421892" y="2834640"/>
            <a:ext cx="768096" cy="768096"/>
          </a:xfrm>
          <a:prstGeom prst="ellipse">
            <a:avLst/>
          </a:prstGeom>
          <a:solidFill>
            <a:srgbClr val="E3B04B"/>
          </a:solidFill>
          <a:ln/>
        </p:spPr>
      </p:sp>
      <p:pic>
        <p:nvPicPr>
          <p:cNvPr id="7" name="Image 0" descr="/home/claude/deck/assets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3008376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886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3434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PivotTable KPIs, and the KPI card dashboard.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82696" y="246888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4155948" y="2834640"/>
            <a:ext cx="768096" cy="768096"/>
          </a:xfrm>
          <a:prstGeom prst="ellipse">
            <a:avLst/>
          </a:prstGeom>
          <a:solidFill>
            <a:srgbClr val="E3B04B"/>
          </a:solidFill>
          <a:ln/>
        </p:spPr>
      </p:sp>
      <p:pic>
        <p:nvPicPr>
          <p:cNvPr id="12" name="Image 1" descr="/home/claude/deck/assets/icons/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008376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65576" y="3886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65576" y="43434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DAX-driven visual report with cards, treemap, and combo charts.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16752" y="246888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6890004" y="2834640"/>
            <a:ext cx="768096" cy="768096"/>
          </a:xfrm>
          <a:prstGeom prst="ellipse">
            <a:avLst/>
          </a:prstGeom>
          <a:solidFill>
            <a:srgbClr val="E3B04B"/>
          </a:solidFill>
          <a:ln/>
        </p:spPr>
      </p:sp>
      <p:pic>
        <p:nvPicPr>
          <p:cNvPr id="17" name="Image 2" descr="/home/claude/deck/assets/icons/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740" y="3008376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9632" y="3886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199632" y="43434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worksheets combined into one interactive executive dashboard.</a:t>
            </a:r>
          </a:p>
        </p:txBody>
      </p:sp>
      <p:sp>
        <p:nvSpPr>
          <p:cNvPr id="20" name="Shape 15"/>
          <p:cNvSpPr/>
          <p:nvPr/>
        </p:nvSpPr>
        <p:spPr>
          <a:xfrm>
            <a:off x="8750808" y="246888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9624060" y="2834640"/>
            <a:ext cx="768096" cy="768096"/>
          </a:xfrm>
          <a:prstGeom prst="ellipse">
            <a:avLst/>
          </a:prstGeom>
          <a:solidFill>
            <a:srgbClr val="E3B04B"/>
          </a:solidFill>
          <a:ln/>
        </p:spPr>
      </p:sp>
      <p:pic>
        <p:nvPicPr>
          <p:cNvPr id="22" name="Image 3" descr="/home/claude/deck/assets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796" y="3008376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33688" y="38862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933688" y="43434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and dimension tables in MySQL, with SQL aggregations that validate every KPI.</a:t>
            </a:r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P1413 MANUFACTURING ANALYTICS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&amp; NARRATIVE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E3B0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28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Objectives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88720" y="20756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purpose and strategic goals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5257800" cy="0"/>
          </a:xfrm>
          <a:prstGeom prst="line">
            <a:avLst/>
          </a:prstGeom>
          <a:noFill/>
          <a:ln w="12700">
            <a:solidFill>
              <a:srgbClr val="3239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37360"/>
            <a:ext cx="384048" cy="384048"/>
          </a:xfrm>
          <a:prstGeom prst="ellipse">
            <a:avLst/>
          </a:prstGeom>
          <a:solidFill>
            <a:srgbClr val="E3B04B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728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169164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Schema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03720" y="20756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fields, and relationships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2898648"/>
            <a:ext cx="5257800" cy="0"/>
          </a:xfrm>
          <a:prstGeom prst="line">
            <a:avLst/>
          </a:prstGeom>
          <a:noFill/>
          <a:ln w="12700">
            <a:solidFill>
              <a:srgbClr val="3239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E3B04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(KPIs)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88720" y="3675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SQL, Power BI &amp; Tableau metrics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98848"/>
            <a:ext cx="5257800" cy="0"/>
          </a:xfrm>
          <a:prstGeom prst="line">
            <a:avLst/>
          </a:prstGeom>
          <a:noFill/>
          <a:ln w="12700">
            <a:solidFill>
              <a:srgbClr val="3239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337560"/>
            <a:ext cx="384048" cy="384048"/>
          </a:xfrm>
          <a:prstGeom prst="ellipse">
            <a:avLst/>
          </a:prstGeom>
          <a:solidFill>
            <a:srgbClr val="E3B04B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329184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</a:t>
            </a:r>
          </a:p>
        </p:txBody>
      </p:sp>
      <p:sp>
        <p:nvSpPr>
          <p:cNvPr id="23" name="Text 21"/>
          <p:cNvSpPr/>
          <p:nvPr/>
        </p:nvSpPr>
        <p:spPr>
          <a:xfrm>
            <a:off x="6903720" y="36758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dashboards are structured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498848"/>
            <a:ext cx="5257800" cy="0"/>
          </a:xfrm>
          <a:prstGeom prst="line">
            <a:avLst/>
          </a:prstGeom>
          <a:noFill/>
          <a:ln w="12700">
            <a:solidFill>
              <a:srgbClr val="3239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937760"/>
            <a:ext cx="384048" cy="384048"/>
          </a:xfrm>
          <a:prstGeom prst="ellipse">
            <a:avLst/>
          </a:prstGeom>
          <a:solidFill>
            <a:srgbClr val="E3B04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928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89204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Strategic Insights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188720" y="52760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099048"/>
            <a:ext cx="5257800" cy="0"/>
          </a:xfrm>
          <a:prstGeom prst="line">
            <a:avLst/>
          </a:prstGeom>
          <a:noFill/>
          <a:ln w="12700">
            <a:solidFill>
              <a:srgbClr val="3239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4937760"/>
            <a:ext cx="384048" cy="384048"/>
          </a:xfrm>
          <a:prstGeom prst="ellipse">
            <a:avLst/>
          </a:prstGeom>
          <a:solidFill>
            <a:srgbClr val="E3B04B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928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489204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Items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903720" y="52760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the project</a:t>
            </a:r>
          </a:p>
        </p:txBody>
      </p:sp>
      <p:sp>
        <p:nvSpPr>
          <p:cNvPr id="34" name="Shape 32"/>
          <p:cNvSpPr/>
          <p:nvPr/>
        </p:nvSpPr>
        <p:spPr>
          <a:xfrm>
            <a:off x="6355080" y="6099048"/>
            <a:ext cx="5257800" cy="0"/>
          </a:xfrm>
          <a:prstGeom prst="line">
            <a:avLst/>
          </a:prstGeom>
          <a:noFill/>
          <a:ln w="12700">
            <a:solidFill>
              <a:srgbClr val="3239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P1413 MANUFACTURING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99860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443484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965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AT A GLANCE</a:t>
            </a:r>
          </a:p>
        </p:txBody>
      </p:sp>
      <p:sp>
        <p:nvSpPr>
          <p:cNvPr id="8" name="Text 6"/>
          <p:cNvSpPr/>
          <p:nvPr/>
        </p:nvSpPr>
        <p:spPr>
          <a:xfrm>
            <a:off x="7543800" y="24231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543800" y="28803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 ORDERS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543800" y="3200400"/>
            <a:ext cx="3794760" cy="0"/>
          </a:xfrm>
          <a:prstGeom prst="line">
            <a:avLst/>
          </a:prstGeom>
          <a:noFill/>
          <a:ln w="12700">
            <a:solidFill>
              <a:srgbClr val="3239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32644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60,050,621</a:t>
            </a:r>
          </a:p>
        </p:txBody>
      </p:sp>
      <p:sp>
        <p:nvSpPr>
          <p:cNvPr id="12" name="Text 10"/>
          <p:cNvSpPr/>
          <p:nvPr/>
        </p:nvSpPr>
        <p:spPr>
          <a:xfrm>
            <a:off x="7543800" y="37216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MANUFACTURING QUANTITY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4041648"/>
            <a:ext cx="3794760" cy="0"/>
          </a:xfrm>
          <a:prstGeom prst="line">
            <a:avLst/>
          </a:prstGeom>
          <a:noFill/>
          <a:ln w="12700">
            <a:solidFill>
              <a:srgbClr val="3239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410565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491,023</a:t>
            </a:r>
          </a:p>
        </p:txBody>
      </p:sp>
      <p:sp>
        <p:nvSpPr>
          <p:cNvPr id="15" name="Text 13"/>
          <p:cNvSpPr/>
          <p:nvPr/>
        </p:nvSpPr>
        <p:spPr>
          <a:xfrm>
            <a:off x="7543800" y="456285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REJECTED QUANTITY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43800" y="4882896"/>
            <a:ext cx="3794760" cy="0"/>
          </a:xfrm>
          <a:prstGeom prst="line">
            <a:avLst/>
          </a:prstGeom>
          <a:noFill/>
          <a:ln w="12700">
            <a:solidFill>
              <a:srgbClr val="3239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494690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0.82%</a:t>
            </a:r>
          </a:p>
        </p:txBody>
      </p:sp>
      <p:sp>
        <p:nvSpPr>
          <p:cNvPr id="18" name="Text 16"/>
          <p:cNvSpPr/>
          <p:nvPr/>
        </p:nvSpPr>
        <p:spPr>
          <a:xfrm>
            <a:off x="7543800" y="54041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P1413 MANUFACTURING ANALYTICS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42FCE-DD2D-0E7A-C7A8-139243B9E923}"/>
              </a:ext>
            </a:extLst>
          </p:cNvPr>
          <p:cNvSpPr txBox="1"/>
          <p:nvPr/>
        </p:nvSpPr>
        <p:spPr>
          <a:xfrm>
            <a:off x="457200" y="1556248"/>
            <a:ext cx="63436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+mj-lt"/>
              </a:rPr>
              <a:t>The Manufacturing Analytics Dashboard is an end-to-end Data Analytics project designed to </a:t>
            </a:r>
            <a:r>
              <a:rPr lang="en-IN" dirty="0" err="1">
                <a:latin typeface="+mj-lt"/>
              </a:rPr>
              <a:t>analyze</a:t>
            </a:r>
            <a:r>
              <a:rPr lang="en-IN" dirty="0">
                <a:latin typeface="+mj-lt"/>
              </a:rPr>
              <a:t> manufacturing operations and generate meaningful business insights using Microsoft Excel, MySQL, Power BI, and Tableau.</a:t>
            </a:r>
          </a:p>
          <a:p>
            <a:pPr>
              <a:buNone/>
            </a:pPr>
            <a:endParaRPr lang="en-IN" dirty="0">
              <a:latin typeface="+mj-lt"/>
            </a:endParaRPr>
          </a:p>
          <a:p>
            <a:pPr>
              <a:buNone/>
            </a:pPr>
            <a:r>
              <a:rPr lang="en-IN" dirty="0">
                <a:latin typeface="+mj-lt"/>
              </a:rPr>
              <a:t>The project focuses on production performance, manufacturing efficiency, machine utilization, rejection analysis, manufacturing costs, delivery performance, and department-wise production quality.</a:t>
            </a:r>
          </a:p>
          <a:p>
            <a:pPr>
              <a:buNone/>
            </a:pPr>
            <a:endParaRPr lang="en-IN" dirty="0">
              <a:latin typeface="+mj-lt"/>
            </a:endParaRPr>
          </a:p>
          <a:p>
            <a:pPr>
              <a:buNone/>
            </a:pPr>
            <a:r>
              <a:rPr lang="en-IN" dirty="0">
                <a:latin typeface="+mj-lt"/>
              </a:rPr>
              <a:t>By transforming manufacturing data into meaningful KPIs and interactive dashboards, the project supports data-driven decision-making and helps identify opportunities to improve operational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objectives guide the analysis of production, quality, operations and cost.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880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assets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Performance</a:t>
            </a:r>
          </a:p>
        </p:txBody>
      </p:sp>
      <p:sp>
        <p:nvSpPr>
          <p:cNvPr id="9" name="Text 6"/>
          <p:cNvSpPr/>
          <p:nvPr/>
        </p:nvSpPr>
        <p:spPr>
          <a:xfrm>
            <a:off x="777240" y="4142232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ordered, processed, and manufactured quantities to understand overall production performance.</a:t>
            </a:r>
          </a:p>
        </p:txBody>
      </p:sp>
      <p:sp>
        <p:nvSpPr>
          <p:cNvPr id="10" name="Shape 7"/>
          <p:cNvSpPr/>
          <p:nvPr/>
        </p:nvSpPr>
        <p:spPr>
          <a:xfrm>
            <a:off x="3383280" y="260604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2880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deck/assets/icons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0175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Analysis</a:t>
            </a:r>
          </a:p>
        </p:txBody>
      </p:sp>
      <p:sp>
        <p:nvSpPr>
          <p:cNvPr id="14" name="Text 10"/>
          <p:cNvSpPr/>
          <p:nvPr/>
        </p:nvSpPr>
        <p:spPr>
          <a:xfrm>
            <a:off x="3611880" y="4142232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rejected quantities, rejection rates, and wastage to understand manufacturing quality.</a:t>
            </a:r>
          </a:p>
        </p:txBody>
      </p:sp>
      <p:sp>
        <p:nvSpPr>
          <p:cNvPr id="15" name="Shape 11"/>
          <p:cNvSpPr/>
          <p:nvPr/>
        </p:nvSpPr>
        <p:spPr>
          <a:xfrm>
            <a:off x="6217920" y="260604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46520" y="2880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deck/assets/icons/chart_up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0175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Performance</a:t>
            </a:r>
          </a:p>
        </p:txBody>
      </p:sp>
      <p:sp>
        <p:nvSpPr>
          <p:cNvPr id="19" name="Text 14"/>
          <p:cNvSpPr/>
          <p:nvPr/>
        </p:nvSpPr>
        <p:spPr>
          <a:xfrm>
            <a:off x="6446520" y="4142232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employee-wise, machine-wise, operation-wise, and department-wise rejection quantities.</a:t>
            </a:r>
          </a:p>
        </p:txBody>
      </p:sp>
      <p:sp>
        <p:nvSpPr>
          <p:cNvPr id="20" name="Shape 15"/>
          <p:cNvSpPr/>
          <p:nvPr/>
        </p:nvSpPr>
        <p:spPr>
          <a:xfrm>
            <a:off x="9052560" y="260604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81160" y="2880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deck/assets/icons/light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30175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Efficiency Analysis</a:t>
            </a:r>
          </a:p>
        </p:txBody>
      </p:sp>
      <p:sp>
        <p:nvSpPr>
          <p:cNvPr id="24" name="Text 18"/>
          <p:cNvSpPr/>
          <p:nvPr/>
        </p:nvSpPr>
        <p:spPr>
          <a:xfrm>
            <a:off x="9281160" y="4142232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manufacturing costs, cost per unit, efficiency, machine utilization, and delivery performance.</a:t>
            </a:r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P1413 MANUFACTURING ANALYTICS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Dataset Overview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table and eight dimension tables form the analytical base for every KPI, chart and dashboard.</a:t>
            </a:r>
          </a:p>
        </p:txBody>
      </p:sp>
      <p:sp>
        <p:nvSpPr>
          <p:cNvPr id="35" name="Text 2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P1413 MANUFACTURING ANALYTICS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Shape 3"/>
          <p:cNvSpPr/>
          <p:nvPr/>
        </p:nvSpPr>
        <p:spPr>
          <a:xfrm>
            <a:off x="548640" y="2240280"/>
            <a:ext cx="3413455" cy="1143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8" name="Shape 4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0" descr="/home/claude/deck/assets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542032"/>
            <a:ext cx="219456" cy="219456"/>
          </a:xfrm>
          <a:prstGeom prst="rect">
            <a:avLst/>
          </a:prstGeom>
        </p:spPr>
      </p:pic>
      <p:sp>
        <p:nvSpPr>
          <p:cNvPr id="40" name="Text 5"/>
          <p:cNvSpPr/>
          <p:nvPr/>
        </p:nvSpPr>
        <p:spPr>
          <a:xfrm>
            <a:off x="1325880" y="239572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fact_Production</a:t>
            </a:r>
          </a:p>
        </p:txBody>
      </p:sp>
      <p:sp>
        <p:nvSpPr>
          <p:cNvPr id="41" name="Text 6"/>
          <p:cNvSpPr/>
          <p:nvPr/>
        </p:nvSpPr>
        <p:spPr>
          <a:xfrm>
            <a:off x="1325880" y="26974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valid records</a:t>
            </a:r>
          </a:p>
        </p:txBody>
      </p:sp>
      <p:sp>
        <p:nvSpPr>
          <p:cNvPr id="42" name="Text 7"/>
          <p:cNvSpPr/>
          <p:nvPr/>
        </p:nvSpPr>
        <p:spPr>
          <a:xfrm>
            <a:off x="731520" y="2990088"/>
            <a:ext cx="3047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quantities, work orders, rejection, costs, and performance metrics.</a:t>
            </a:r>
          </a:p>
        </p:txBody>
      </p:sp>
      <p:sp>
        <p:nvSpPr>
          <p:cNvPr id="43" name="Shape 3"/>
          <p:cNvSpPr/>
          <p:nvPr/>
        </p:nvSpPr>
        <p:spPr>
          <a:xfrm>
            <a:off x="4190695" y="2240280"/>
            <a:ext cx="3413455" cy="1143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44" name="Shape 4"/>
          <p:cNvSpPr/>
          <p:nvPr/>
        </p:nvSpPr>
        <p:spPr>
          <a:xfrm>
            <a:off x="4373575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5" name="Image 1" descr="/home/claude/deck/assets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447" y="2542032"/>
            <a:ext cx="219456" cy="219456"/>
          </a:xfrm>
          <a:prstGeom prst="rect">
            <a:avLst/>
          </a:prstGeom>
        </p:spPr>
      </p:pic>
      <p:sp>
        <p:nvSpPr>
          <p:cNvPr id="46" name="Text 5"/>
          <p:cNvSpPr/>
          <p:nvPr/>
        </p:nvSpPr>
        <p:spPr>
          <a:xfrm>
            <a:off x="4967935" y="239572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dim_Buyer</a:t>
            </a:r>
          </a:p>
        </p:txBody>
      </p:sp>
      <p:sp>
        <p:nvSpPr>
          <p:cNvPr id="47" name="Text 6"/>
          <p:cNvSpPr/>
          <p:nvPr/>
        </p:nvSpPr>
        <p:spPr>
          <a:xfrm>
            <a:off x="4967935" y="26974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</a:t>
            </a:r>
          </a:p>
        </p:txBody>
      </p:sp>
      <p:sp>
        <p:nvSpPr>
          <p:cNvPr id="48" name="Text 7"/>
          <p:cNvSpPr/>
          <p:nvPr/>
        </p:nvSpPr>
        <p:spPr>
          <a:xfrm>
            <a:off x="4373575" y="2990088"/>
            <a:ext cx="3047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information.</a:t>
            </a:r>
          </a:p>
        </p:txBody>
      </p:sp>
      <p:sp>
        <p:nvSpPr>
          <p:cNvPr id="49" name="Shape 3"/>
          <p:cNvSpPr/>
          <p:nvPr/>
        </p:nvSpPr>
        <p:spPr>
          <a:xfrm>
            <a:off x="7832750" y="2240280"/>
            <a:ext cx="3413455" cy="1143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0" name="Shape 4"/>
          <p:cNvSpPr/>
          <p:nvPr/>
        </p:nvSpPr>
        <p:spPr>
          <a:xfrm>
            <a:off x="801563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2" descr="/home/claude/deck/assets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502" y="2542032"/>
            <a:ext cx="219456" cy="219456"/>
          </a:xfrm>
          <a:prstGeom prst="rect">
            <a:avLst/>
          </a:prstGeom>
        </p:spPr>
      </p:pic>
      <p:sp>
        <p:nvSpPr>
          <p:cNvPr id="52" name="Text 5"/>
          <p:cNvSpPr/>
          <p:nvPr/>
        </p:nvSpPr>
        <p:spPr>
          <a:xfrm>
            <a:off x="8609990" y="239572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</a:p>
        </p:txBody>
      </p:sp>
      <p:sp>
        <p:nvSpPr>
          <p:cNvPr id="53" name="Text 6"/>
          <p:cNvSpPr/>
          <p:nvPr/>
        </p:nvSpPr>
        <p:spPr>
          <a:xfrm>
            <a:off x="8609990" y="269748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9,944 rows</a:t>
            </a:r>
          </a:p>
        </p:txBody>
      </p:sp>
      <p:sp>
        <p:nvSpPr>
          <p:cNvPr id="54" name="Text 7"/>
          <p:cNvSpPr/>
          <p:nvPr/>
        </p:nvSpPr>
        <p:spPr>
          <a:xfrm>
            <a:off x="8015630" y="2990088"/>
            <a:ext cx="3047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information.</a:t>
            </a:r>
          </a:p>
        </p:txBody>
      </p:sp>
      <p:sp>
        <p:nvSpPr>
          <p:cNvPr id="55" name="Shape 3"/>
          <p:cNvSpPr/>
          <p:nvPr/>
        </p:nvSpPr>
        <p:spPr>
          <a:xfrm>
            <a:off x="548640" y="3520440"/>
            <a:ext cx="3413455" cy="1143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6" name="Shape 4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7" name="Image 3" descr="/home/claude/deck/assets/icons/credit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3822191"/>
            <a:ext cx="219456" cy="219456"/>
          </a:xfrm>
          <a:prstGeom prst="rect">
            <a:avLst/>
          </a:prstGeom>
        </p:spPr>
      </p:pic>
      <p:sp>
        <p:nvSpPr>
          <p:cNvPr id="58" name="Text 5"/>
          <p:cNvSpPr/>
          <p:nvPr/>
        </p:nvSpPr>
        <p:spPr>
          <a:xfrm>
            <a:off x="1325880" y="36758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dim_Employee</a:t>
            </a:r>
          </a:p>
        </p:txBody>
      </p:sp>
      <p:sp>
        <p:nvSpPr>
          <p:cNvPr id="59" name="Text 6"/>
          <p:cNvSpPr/>
          <p:nvPr/>
        </p:nvSpPr>
        <p:spPr>
          <a:xfrm>
            <a:off x="1325880" y="3977639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899 rows</a:t>
            </a:r>
          </a:p>
        </p:txBody>
      </p:sp>
      <p:sp>
        <p:nvSpPr>
          <p:cNvPr id="60" name="Text 7"/>
          <p:cNvSpPr/>
          <p:nvPr/>
        </p:nvSpPr>
        <p:spPr>
          <a:xfrm>
            <a:off x="731520" y="4270248"/>
            <a:ext cx="3047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information.</a:t>
            </a:r>
          </a:p>
        </p:txBody>
      </p:sp>
      <p:sp>
        <p:nvSpPr>
          <p:cNvPr id="61" name="Shape 3"/>
          <p:cNvSpPr/>
          <p:nvPr/>
        </p:nvSpPr>
        <p:spPr>
          <a:xfrm>
            <a:off x="4190695" y="3520440"/>
            <a:ext cx="3413455" cy="1143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2" name="Shape 4"/>
          <p:cNvSpPr/>
          <p:nvPr/>
        </p:nvSpPr>
        <p:spPr>
          <a:xfrm>
            <a:off x="4373575" y="3703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3" name="Image 4" descr="/home/claude/deck/assets/icons/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2447" y="3822191"/>
            <a:ext cx="219456" cy="219456"/>
          </a:xfrm>
          <a:prstGeom prst="rect">
            <a:avLst/>
          </a:prstGeom>
        </p:spPr>
      </p:pic>
      <p:sp>
        <p:nvSpPr>
          <p:cNvPr id="64" name="Text 5"/>
          <p:cNvSpPr/>
          <p:nvPr/>
        </p:nvSpPr>
        <p:spPr>
          <a:xfrm>
            <a:off x="4967935" y="36758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dim_Operation</a:t>
            </a:r>
          </a:p>
        </p:txBody>
      </p:sp>
      <p:sp>
        <p:nvSpPr>
          <p:cNvPr id="65" name="Text 6"/>
          <p:cNvSpPr/>
          <p:nvPr/>
        </p:nvSpPr>
        <p:spPr>
          <a:xfrm>
            <a:off x="4967935" y="3977639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</a:t>
            </a:r>
          </a:p>
        </p:txBody>
      </p:sp>
      <p:sp>
        <p:nvSpPr>
          <p:cNvPr id="66" name="Text 7"/>
          <p:cNvSpPr/>
          <p:nvPr/>
        </p:nvSpPr>
        <p:spPr>
          <a:xfrm>
            <a:off x="4373575" y="4270248"/>
            <a:ext cx="3047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operation details.</a:t>
            </a:r>
          </a:p>
        </p:txBody>
      </p:sp>
      <p:sp>
        <p:nvSpPr>
          <p:cNvPr id="67" name="Shape 3"/>
          <p:cNvSpPr/>
          <p:nvPr/>
        </p:nvSpPr>
        <p:spPr>
          <a:xfrm>
            <a:off x="7832750" y="3520440"/>
            <a:ext cx="3413455" cy="1143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8" name="Shape 4"/>
          <p:cNvSpPr/>
          <p:nvPr/>
        </p:nvSpPr>
        <p:spPr>
          <a:xfrm>
            <a:off x="8015630" y="3703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9" name="Image 0" descr="/home/claude/deck/assets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502" y="3822191"/>
            <a:ext cx="219456" cy="219456"/>
          </a:xfrm>
          <a:prstGeom prst="rect">
            <a:avLst/>
          </a:prstGeom>
        </p:spPr>
      </p:pic>
      <p:sp>
        <p:nvSpPr>
          <p:cNvPr id="70" name="Text 5"/>
          <p:cNvSpPr/>
          <p:nvPr/>
        </p:nvSpPr>
        <p:spPr>
          <a:xfrm>
            <a:off x="8609990" y="367588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dim_Machine</a:t>
            </a:r>
          </a:p>
        </p:txBody>
      </p:sp>
      <p:sp>
        <p:nvSpPr>
          <p:cNvPr id="71" name="Text 6"/>
          <p:cNvSpPr/>
          <p:nvPr/>
        </p:nvSpPr>
        <p:spPr>
          <a:xfrm>
            <a:off x="8609990" y="3977639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rows</a:t>
            </a:r>
          </a:p>
        </p:txBody>
      </p:sp>
      <p:sp>
        <p:nvSpPr>
          <p:cNvPr id="72" name="Text 7"/>
          <p:cNvSpPr/>
          <p:nvPr/>
        </p:nvSpPr>
        <p:spPr>
          <a:xfrm>
            <a:off x="8015630" y="4270248"/>
            <a:ext cx="3047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information.</a:t>
            </a:r>
          </a:p>
        </p:txBody>
      </p:sp>
      <p:sp>
        <p:nvSpPr>
          <p:cNvPr id="73" name="Shape 3"/>
          <p:cNvSpPr/>
          <p:nvPr/>
        </p:nvSpPr>
        <p:spPr>
          <a:xfrm>
            <a:off x="548640" y="4800600"/>
            <a:ext cx="3413455" cy="1143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4" name="Shape 4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5" name="Image 1" descr="/home/claude/deck/assets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5102352"/>
            <a:ext cx="219456" cy="219456"/>
          </a:xfrm>
          <a:prstGeom prst="rect">
            <a:avLst/>
          </a:prstGeom>
        </p:spPr>
      </p:pic>
      <p:sp>
        <p:nvSpPr>
          <p:cNvPr id="76" name="Text 5"/>
          <p:cNvSpPr/>
          <p:nvPr/>
        </p:nvSpPr>
        <p:spPr>
          <a:xfrm>
            <a:off x="1325880" y="49560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dim_Department</a:t>
            </a:r>
          </a:p>
        </p:txBody>
      </p:sp>
      <p:sp>
        <p:nvSpPr>
          <p:cNvPr id="77" name="Text 6"/>
          <p:cNvSpPr/>
          <p:nvPr/>
        </p:nvSpPr>
        <p:spPr>
          <a:xfrm>
            <a:off x="1325880" y="52578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</a:t>
            </a:r>
          </a:p>
        </p:txBody>
      </p:sp>
      <p:sp>
        <p:nvSpPr>
          <p:cNvPr id="78" name="Text 7"/>
          <p:cNvSpPr/>
          <p:nvPr/>
        </p:nvSpPr>
        <p:spPr>
          <a:xfrm>
            <a:off x="731520" y="5550408"/>
            <a:ext cx="3047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information.</a:t>
            </a:r>
          </a:p>
        </p:txBody>
      </p:sp>
      <p:sp>
        <p:nvSpPr>
          <p:cNvPr id="79" name="Shape 3"/>
          <p:cNvSpPr/>
          <p:nvPr/>
        </p:nvSpPr>
        <p:spPr>
          <a:xfrm>
            <a:off x="4190695" y="4800600"/>
            <a:ext cx="3413455" cy="1143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80" name="Shape 4"/>
          <p:cNvSpPr/>
          <p:nvPr/>
        </p:nvSpPr>
        <p:spPr>
          <a:xfrm>
            <a:off x="4373575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1" name="Image 2" descr="/home/claude/deck/assets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447" y="5102352"/>
            <a:ext cx="219456" cy="219456"/>
          </a:xfrm>
          <a:prstGeom prst="rect">
            <a:avLst/>
          </a:prstGeom>
        </p:spPr>
      </p:pic>
      <p:sp>
        <p:nvSpPr>
          <p:cNvPr id="82" name="Text 5"/>
          <p:cNvSpPr/>
          <p:nvPr/>
        </p:nvSpPr>
        <p:spPr>
          <a:xfrm>
            <a:off x="4967935" y="49560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dim_Item</a:t>
            </a:r>
          </a:p>
        </p:txBody>
      </p:sp>
      <p:sp>
        <p:nvSpPr>
          <p:cNvPr id="83" name="Text 6"/>
          <p:cNvSpPr/>
          <p:nvPr/>
        </p:nvSpPr>
        <p:spPr>
          <a:xfrm>
            <a:off x="4967935" y="52578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rows</a:t>
            </a:r>
          </a:p>
        </p:txBody>
      </p:sp>
      <p:sp>
        <p:nvSpPr>
          <p:cNvPr id="84" name="Text 7"/>
          <p:cNvSpPr/>
          <p:nvPr/>
        </p:nvSpPr>
        <p:spPr>
          <a:xfrm>
            <a:off x="4373575" y="5550408"/>
            <a:ext cx="3047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and product details.</a:t>
            </a:r>
          </a:p>
        </p:txBody>
      </p:sp>
      <p:sp>
        <p:nvSpPr>
          <p:cNvPr id="85" name="Shape 3"/>
          <p:cNvSpPr/>
          <p:nvPr/>
        </p:nvSpPr>
        <p:spPr>
          <a:xfrm>
            <a:off x="7832750" y="4800600"/>
            <a:ext cx="3413455" cy="1143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86" name="Shape 4"/>
          <p:cNvSpPr/>
          <p:nvPr/>
        </p:nvSpPr>
        <p:spPr>
          <a:xfrm>
            <a:off x="801563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7" name="Image 3" descr="/home/claude/deck/assets/icons/credit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4502" y="5102352"/>
            <a:ext cx="219456" cy="219456"/>
          </a:xfrm>
          <a:prstGeom prst="rect">
            <a:avLst/>
          </a:prstGeom>
        </p:spPr>
      </p:pic>
      <p:sp>
        <p:nvSpPr>
          <p:cNvPr id="88" name="Text 5"/>
          <p:cNvSpPr/>
          <p:nvPr/>
        </p:nvSpPr>
        <p:spPr>
          <a:xfrm>
            <a:off x="8609990" y="49560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</a:p>
        </p:txBody>
      </p:sp>
      <p:sp>
        <p:nvSpPr>
          <p:cNvPr id="89" name="Text 6"/>
          <p:cNvSpPr/>
          <p:nvPr/>
        </p:nvSpPr>
        <p:spPr>
          <a:xfrm>
            <a:off x="8609990" y="52578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rows</a:t>
            </a:r>
          </a:p>
        </p:txBody>
      </p:sp>
      <p:sp>
        <p:nvSpPr>
          <p:cNvPr id="90" name="Text 7"/>
          <p:cNvSpPr/>
          <p:nvPr/>
        </p:nvSpPr>
        <p:spPr>
          <a:xfrm>
            <a:off x="8015630" y="5550408"/>
            <a:ext cx="3047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and date information.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6053328"/>
            <a:ext cx="106984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B6685"/>
                </a:solidFill>
                <a:latin typeface="Calibri"/>
              </a:rPr>
              <a:t>Note: The original production table contained 10,679 rows, including 679 blank placeholder records. These were separated from the 10,000 valid production records used for the main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Data Model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fact_Production sits at the centre; each dimension table joins to it through one key column.</a:t>
            </a:r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P1413 MANUFACTURING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6" name="Rounded Rectangle 25"/>
          <p:cNvSpPr/>
          <p:nvPr/>
        </p:nvSpPr>
        <p:spPr>
          <a:xfrm>
            <a:off x="4709160" y="3429000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fact_Production</a:t>
            </a:r>
          </a:p>
          <a:p>
            <a:pPr algn="ctr">
              <a:spcBef>
                <a:spcPts val="400"/>
              </a:spcBef>
            </a:pPr>
            <a:r>
              <a:rPr sz="1000" b="0" i="0">
                <a:solidFill>
                  <a:srgbClr val="E3B04B"/>
                </a:solidFill>
                <a:latin typeface="Calibri"/>
              </a:rPr>
              <a:t>Central fact table  •  10,000 valid 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253996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200" b="1" i="0">
                <a:solidFill>
                  <a:srgbClr val="141A33"/>
                </a:solidFill>
                <a:latin typeface="Calibri"/>
              </a:rPr>
              <a:t>dim_Date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B6685"/>
                </a:solidFill>
                <a:latin typeface="Calibri"/>
              </a:rPr>
              <a:t>Key: Date_FK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83280" y="2628900"/>
            <a:ext cx="1325880" cy="1028700"/>
          </a:xfrm>
          <a:prstGeom prst="line">
            <a:avLst/>
          </a:prstGeom>
          <a:ln w="15875">
            <a:solidFill>
              <a:srgbClr val="5B6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3168396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200" b="1" i="0">
                <a:solidFill>
                  <a:srgbClr val="141A33"/>
                </a:solidFill>
                <a:latin typeface="Calibri"/>
              </a:rPr>
              <a:t>dim_Buyer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B6685"/>
                </a:solidFill>
                <a:latin typeface="Calibri"/>
              </a:rPr>
              <a:t>Key: Buyer_ID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83280" y="3543300"/>
            <a:ext cx="1325880" cy="388620"/>
          </a:xfrm>
          <a:prstGeom prst="line">
            <a:avLst/>
          </a:prstGeom>
          <a:ln w="15875">
            <a:solidFill>
              <a:srgbClr val="5B6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48640" y="4082796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200" b="1" i="0">
                <a:solidFill>
                  <a:srgbClr val="141A33"/>
                </a:solidFill>
                <a:latin typeface="Calibri"/>
              </a:rPr>
              <a:t>dim_Customer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B6685"/>
                </a:solidFill>
                <a:latin typeface="Calibri"/>
              </a:rPr>
              <a:t>Key: Customer_Code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3383280" y="4206240"/>
            <a:ext cx="1325880" cy="251460"/>
          </a:xfrm>
          <a:prstGeom prst="line">
            <a:avLst/>
          </a:prstGeom>
          <a:ln w="15875">
            <a:solidFill>
              <a:srgbClr val="5B6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4997196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200" b="1" i="0">
                <a:solidFill>
                  <a:srgbClr val="141A33"/>
                </a:solidFill>
                <a:latin typeface="Calibri"/>
              </a:rPr>
              <a:t>dim_Employee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B6685"/>
                </a:solidFill>
                <a:latin typeface="Calibri"/>
              </a:rPr>
              <a:t>Key: Employee_Code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3383280" y="4480560"/>
            <a:ext cx="1325880" cy="891540"/>
          </a:xfrm>
          <a:prstGeom prst="line">
            <a:avLst/>
          </a:prstGeom>
          <a:ln w="15875">
            <a:solidFill>
              <a:srgbClr val="5B6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805672" y="2253996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200" b="1" i="0">
                <a:solidFill>
                  <a:srgbClr val="141A33"/>
                </a:solidFill>
                <a:latin typeface="Calibri"/>
              </a:rPr>
              <a:t>dim_Machine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B6685"/>
                </a:solidFill>
                <a:latin typeface="Calibri"/>
              </a:rPr>
              <a:t>Key: Machine_Code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498079" y="2628900"/>
            <a:ext cx="1307593" cy="1028700"/>
          </a:xfrm>
          <a:prstGeom prst="line">
            <a:avLst/>
          </a:prstGeom>
          <a:ln w="15875">
            <a:solidFill>
              <a:srgbClr val="5B6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805672" y="3168396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200" b="1" i="0">
                <a:solidFill>
                  <a:srgbClr val="141A33"/>
                </a:solidFill>
                <a:latin typeface="Calibri"/>
              </a:rPr>
              <a:t>dim_Operation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B6685"/>
                </a:solidFill>
                <a:latin typeface="Calibri"/>
              </a:rPr>
              <a:t>Key: Operation_Code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7498079" y="3543300"/>
            <a:ext cx="1307593" cy="388620"/>
          </a:xfrm>
          <a:prstGeom prst="line">
            <a:avLst/>
          </a:prstGeom>
          <a:ln w="15875">
            <a:solidFill>
              <a:srgbClr val="5B6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805672" y="4082796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200" b="1" i="0">
                <a:solidFill>
                  <a:srgbClr val="141A33"/>
                </a:solidFill>
                <a:latin typeface="Calibri"/>
              </a:rPr>
              <a:t>dim_Department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B6685"/>
                </a:solidFill>
                <a:latin typeface="Calibri"/>
              </a:rPr>
              <a:t>Key: Dept_ID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98079" y="4206240"/>
            <a:ext cx="1307593" cy="251460"/>
          </a:xfrm>
          <a:prstGeom prst="line">
            <a:avLst/>
          </a:prstGeom>
          <a:ln w="15875">
            <a:solidFill>
              <a:srgbClr val="5B6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805672" y="4997196"/>
            <a:ext cx="28346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200" b="1" i="0">
                <a:solidFill>
                  <a:srgbClr val="141A33"/>
                </a:solidFill>
                <a:latin typeface="Calibri"/>
              </a:rPr>
              <a:t>dim_Item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5B6685"/>
                </a:solidFill>
                <a:latin typeface="Calibri"/>
              </a:rPr>
              <a:t>Key: Item_Code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98079" y="4480560"/>
            <a:ext cx="1307593" cy="891540"/>
          </a:xfrm>
          <a:prstGeom prst="line">
            <a:avLst/>
          </a:prstGeom>
          <a:ln w="15875">
            <a:solidFill>
              <a:srgbClr val="5B66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71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960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KPI Cards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841903"/>
            <a:ext cx="106984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headline KPIs were calculated in Excel using PivotTables and summarized into a KPI card panel.</a:t>
            </a:r>
          </a:p>
        </p:txBody>
      </p:sp>
      <p:sp>
        <p:nvSpPr>
          <p:cNvPr id="25" name="Text 19"/>
          <p:cNvSpPr/>
          <p:nvPr/>
        </p:nvSpPr>
        <p:spPr>
          <a:xfrm>
            <a:off x="548640" y="169164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KPI CARD PANEL — MANUFACTURING ANALYTICS</a:t>
            </a:r>
          </a:p>
        </p:txBody>
      </p:sp>
      <p:sp>
        <p:nvSpPr>
          <p:cNvPr id="31" name="Text 2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3" name="Rounded Rectangle 32"/>
          <p:cNvSpPr/>
          <p:nvPr/>
        </p:nvSpPr>
        <p:spPr>
          <a:xfrm>
            <a:off x="548640" y="2103120"/>
            <a:ext cx="2468880" cy="233172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2103120"/>
            <a:ext cx="2468880" cy="73152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2377439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CADCFC"/>
                </a:solidFill>
                <a:latin typeface="Calibri"/>
              </a:rPr>
              <a:t>TOTAL WORK ORDERS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78892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10,000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794760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Distinct Doc_Num in fact_Production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2103120"/>
            <a:ext cx="2468880" cy="233172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91840" y="2103120"/>
            <a:ext cx="2468880" cy="7315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0" y="2377439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CADCFC"/>
                </a:solidFill>
                <a:latin typeface="Calibri"/>
              </a:rPr>
              <a:t>TOTAL MANUFACTURED QTY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278892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60,050,621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3794760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Sum of Produced_Qty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103120"/>
            <a:ext cx="2468880" cy="233172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35040" y="2103120"/>
            <a:ext cx="2468880" cy="73152"/>
          </a:xfrm>
          <a:prstGeom prst="rect">
            <a:avLst/>
          </a:prstGeom>
          <a:solidFill>
            <a:srgbClr val="C65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0" y="2377439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CADCFC"/>
                </a:solidFill>
                <a:latin typeface="Calibri"/>
              </a:rPr>
              <a:t>TOTAL REJECTED QTY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78892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491,023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794760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Sum of Rejected_Qty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78240" y="2103120"/>
            <a:ext cx="2468880" cy="233172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778240" y="2103120"/>
            <a:ext cx="2468880" cy="73152"/>
          </a:xfrm>
          <a:prstGeom prst="rect">
            <a:avLst/>
          </a:prstGeom>
          <a:solidFill>
            <a:srgbClr val="3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19" y="2377439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CADCFC"/>
                </a:solidFill>
                <a:latin typeface="Calibri"/>
              </a:rPr>
              <a:t>REJECTION 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278892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0.82%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3794760"/>
            <a:ext cx="2103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Rejected qty ÷ Produced qty × 100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754880"/>
            <a:ext cx="10698480" cy="1280160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rIns="274320" bIns="18288" rtlCol="0" anchor="ctr"/>
          <a:lstStyle/>
          <a:p>
            <a:pPr algn="l"/>
            <a:r>
              <a:rPr sz="1000" b="1" i="0">
                <a:solidFill>
                  <a:srgbClr val="5B6685"/>
                </a:solidFill>
                <a:latin typeface="Calibri"/>
              </a:rPr>
              <a:t>HOW THE KPIs ARE DEFINED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141A33"/>
                </a:solidFill>
                <a:latin typeface="Calibri"/>
              </a:rPr>
              <a:t>Rejection Rate %  =  Total Rejected Qty ÷ Total Manufactured Qty × 100   →   491,023 ÷ 60,050,621 × 100 = 0.82%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141A33"/>
                </a:solidFill>
                <a:latin typeface="Calibri"/>
              </a:rPr>
              <a:t>Total Work Orders  =  COUNT(DISTINCT Doc_Num) from fact_Production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Excel Dashboard</a:t>
            </a:r>
          </a:p>
        </p:txBody>
      </p:sp>
      <p:sp>
        <p:nvSpPr>
          <p:cNvPr id="19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1" name="Rounded Rectangle 20"/>
          <p:cNvSpPr/>
          <p:nvPr/>
        </p:nvSpPr>
        <p:spPr>
          <a:xfrm>
            <a:off x="396240" y="1289304"/>
            <a:ext cx="11399520" cy="5257800"/>
          </a:xfrm>
          <a:prstGeom prst="roundRect">
            <a:avLst>
              <a:gd name="adj" fmla="val 3000"/>
            </a:avLst>
          </a:prstGeom>
          <a:solidFill>
            <a:srgbClr val="EAF1FB"/>
          </a:solidFill>
          <a:ln w="19050">
            <a:solidFill>
              <a:srgbClr val="CADC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182880" bIns="18288" rtlCol="0" anchor="ctr"/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[INSERT MANUFACTURING EXCEL DASHBOARD SCREENSHOT HERE]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5B6685"/>
                </a:solidFill>
                <a:latin typeface="Calibri"/>
              </a:rPr>
              <a:t>KPI cards, production analysis, rejection analysis and cost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011F9-DDC8-7643-3B83-CFEB8C569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307592"/>
            <a:ext cx="11399519" cy="51727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ANALYSIS  •  I OF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Performance Analysis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452628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60,022,534 vs produced 60,050,621 (gap of 28,087 units). Ordered (WO_Qty) total: [INSERT FROM POWER BI].</a:t>
            </a:r>
          </a:p>
        </p:txBody>
      </p:sp>
      <p:sp>
        <p:nvSpPr>
          <p:cNvPr id="7" name="Text 3"/>
          <p:cNvSpPr/>
          <p:nvPr/>
        </p:nvSpPr>
        <p:spPr>
          <a:xfrm>
            <a:off x="4251960" y="4526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i="1" dirty="0">
              <a:solidFill>
                <a:srgbClr val="5B66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092440" y="45262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÷ Ordered × 100 = 80.10%, so 19.90% of ordered quantity is not yet processed.</a:t>
            </a:r>
          </a:p>
        </p:txBody>
      </p:sp>
      <p:sp>
        <p:nvSpPr>
          <p:cNvPr id="10" name="Shape 5"/>
          <p:cNvSpPr/>
          <p:nvPr/>
        </p:nvSpPr>
        <p:spPr>
          <a:xfrm>
            <a:off x="457200" y="534924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1" name="Text 6"/>
          <p:cNvSpPr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Produced output closely matches processed quantity (100.05%), while about one-fifth of ordered quantity (19.90%) remains unprocessed. This is the main area for operational review.</a:t>
            </a:r>
          </a:p>
        </p:txBody>
      </p:sp>
      <p:sp>
        <p:nvSpPr>
          <p:cNvPr id="12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ANALYSIS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1691640"/>
          <a:ext cx="37033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092440" y="1691640"/>
          <a:ext cx="36118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ANALYSIS  •  II OF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Rejection Analysis</a:t>
            </a:r>
          </a:p>
        </p:txBody>
      </p:sp>
      <p:sp>
        <p:nvSpPr>
          <p:cNvPr id="6" name="Shape 2"/>
          <p:cNvSpPr/>
          <p:nvPr/>
        </p:nvSpPr>
        <p:spPr>
          <a:xfrm>
            <a:off x="423672" y="4937760"/>
            <a:ext cx="2758440" cy="10972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1792" y="493776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rejected quantity</a:t>
            </a:r>
          </a:p>
        </p:txBody>
      </p:sp>
      <p:sp>
        <p:nvSpPr>
          <p:cNvPr id="8" name="Text 4"/>
          <p:cNvSpPr/>
          <p:nvPr/>
        </p:nvSpPr>
        <p:spPr>
          <a:xfrm>
            <a:off x="621792" y="5367528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491,023 units</a:t>
            </a:r>
          </a:p>
        </p:txBody>
      </p:sp>
      <p:sp>
        <p:nvSpPr>
          <p:cNvPr id="9" name="Shape 5"/>
          <p:cNvSpPr/>
          <p:nvPr/>
        </p:nvSpPr>
        <p:spPr>
          <a:xfrm>
            <a:off x="3380232" y="4937760"/>
            <a:ext cx="2663952" cy="10972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83864" y="493776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</a:p>
        </p:txBody>
      </p:sp>
      <p:sp>
        <p:nvSpPr>
          <p:cNvPr id="11" name="Text 7"/>
          <p:cNvSpPr/>
          <p:nvPr/>
        </p:nvSpPr>
        <p:spPr>
          <a:xfrm>
            <a:off x="3483864" y="5367528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0.82% of manufactured quantity</a:t>
            </a:r>
          </a:p>
        </p:txBody>
      </p:sp>
      <p:sp>
        <p:nvSpPr>
          <p:cNvPr id="12" name="Shape 8"/>
          <p:cNvSpPr/>
          <p:nvPr/>
        </p:nvSpPr>
        <p:spPr>
          <a:xfrm>
            <a:off x="6242304" y="4937760"/>
            <a:ext cx="2663952" cy="10972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45936" y="493776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with most rejections</a:t>
            </a:r>
          </a:p>
        </p:txBody>
      </p:sp>
      <p:sp>
        <p:nvSpPr>
          <p:cNvPr id="14" name="Text 10"/>
          <p:cNvSpPr/>
          <p:nvPr/>
        </p:nvSpPr>
        <p:spPr>
          <a:xfrm>
            <a:off x="6345936" y="5367528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FROM POWER BI]</a:t>
            </a:r>
          </a:p>
        </p:txBody>
      </p:sp>
      <p:sp>
        <p:nvSpPr>
          <p:cNvPr id="15" name="Shape 11"/>
          <p:cNvSpPr/>
          <p:nvPr/>
        </p:nvSpPr>
        <p:spPr>
          <a:xfrm>
            <a:off x="9104376" y="4937760"/>
            <a:ext cx="2663952" cy="10972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208008" y="4937760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with most rejections</a:t>
            </a:r>
          </a:p>
        </p:txBody>
      </p:sp>
      <p:sp>
        <p:nvSpPr>
          <p:cNvPr id="17" name="Text 13"/>
          <p:cNvSpPr/>
          <p:nvPr/>
        </p:nvSpPr>
        <p:spPr>
          <a:xfrm>
            <a:off x="9208008" y="5367528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FROM POWER BI]</a:t>
            </a:r>
          </a:p>
        </p:txBody>
      </p:sp>
      <p:sp>
        <p:nvSpPr>
          <p:cNvPr id="18" name="Text 1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ANALYSIS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5B6685"/>
                </a:solidFill>
                <a:latin typeface="Calibri"/>
              </a:rPr>
              <a:t>Takeaway: rejects concentrate by machine, employee and operation. The highest count can reflect production volume, so compare against produced quantity before concluding.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6D2BC-BBA7-2F0A-8C5A-B9BB72533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2" y="1359694"/>
            <a:ext cx="11372088" cy="3471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— Manufacturing Data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were validated in MySQL against fact_Production and its dimension tables, grouped into six analytical themes.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5146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assets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61518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80360" y="255117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01</a:t>
            </a:r>
          </a:p>
        </p:txBody>
      </p:sp>
      <p:sp>
        <p:nvSpPr>
          <p:cNvPr id="9" name="Text 6"/>
          <p:cNvSpPr/>
          <p:nvPr/>
        </p:nvSpPr>
        <p:spPr>
          <a:xfrm>
            <a:off x="731520" y="3081528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Analysis</a:t>
            </a:r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orders, ordered quantities, processed quantities and manufactured quantities.</a:t>
            </a:r>
          </a:p>
        </p:txBody>
      </p:sp>
      <p:sp>
        <p:nvSpPr>
          <p:cNvPr id="11" name="Shape 8"/>
          <p:cNvSpPr/>
          <p:nvPr/>
        </p:nvSpPr>
        <p:spPr>
          <a:xfrm>
            <a:off x="4215384" y="233172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98264" y="25146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/assets/icons/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61518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47104" y="255117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02</a:t>
            </a:r>
          </a:p>
        </p:txBody>
      </p:sp>
      <p:sp>
        <p:nvSpPr>
          <p:cNvPr id="15" name="Text 11"/>
          <p:cNvSpPr/>
          <p:nvPr/>
        </p:nvSpPr>
        <p:spPr>
          <a:xfrm>
            <a:off x="4398264" y="3081528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Analysis</a:t>
            </a:r>
          </a:p>
        </p:txBody>
      </p:sp>
      <p:sp>
        <p:nvSpPr>
          <p:cNvPr id="16" name="Text 12"/>
          <p:cNvSpPr/>
          <p:nvPr/>
        </p:nvSpPr>
        <p:spPr>
          <a:xfrm>
            <a:off x="4398264" y="342900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rejected quantity, rejection rates and wastage.</a:t>
            </a:r>
          </a:p>
        </p:txBody>
      </p:sp>
      <p:sp>
        <p:nvSpPr>
          <p:cNvPr id="17" name="Shape 13"/>
          <p:cNvSpPr/>
          <p:nvPr/>
        </p:nvSpPr>
        <p:spPr>
          <a:xfrm>
            <a:off x="7882128" y="233172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5008" y="251460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deck/assets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261518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213848" y="255117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03</a:t>
            </a:r>
          </a:p>
        </p:txBody>
      </p:sp>
      <p:sp>
        <p:nvSpPr>
          <p:cNvPr id="21" name="Text 16"/>
          <p:cNvSpPr/>
          <p:nvPr/>
        </p:nvSpPr>
        <p:spPr>
          <a:xfrm>
            <a:off x="8065008" y="3081528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Machine Analysis</a:t>
            </a:r>
          </a:p>
        </p:txBody>
      </p:sp>
      <p:sp>
        <p:nvSpPr>
          <p:cNvPr id="22" name="Text 17"/>
          <p:cNvSpPr/>
          <p:nvPr/>
        </p:nvSpPr>
        <p:spPr>
          <a:xfrm>
            <a:off x="8065008" y="342900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Employee-wise and machine-wise rejection analysis.</a:t>
            </a:r>
          </a:p>
        </p:txBody>
      </p:sp>
      <p:sp>
        <p:nvSpPr>
          <p:cNvPr id="23" name="Shape 18"/>
          <p:cNvSpPr/>
          <p:nvPr/>
        </p:nvSpPr>
        <p:spPr>
          <a:xfrm>
            <a:off x="548640" y="420624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1520" y="43891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deck/assets/icons/doll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489704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880360" y="442569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04</a:t>
            </a:r>
          </a:p>
        </p:txBody>
      </p:sp>
      <p:sp>
        <p:nvSpPr>
          <p:cNvPr id="27" name="Text 21"/>
          <p:cNvSpPr/>
          <p:nvPr/>
        </p:nvSpPr>
        <p:spPr>
          <a:xfrm>
            <a:off x="731520" y="4956048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&amp; Department Analysis</a:t>
            </a:r>
          </a:p>
        </p:txBody>
      </p:sp>
      <p:sp>
        <p:nvSpPr>
          <p:cNvPr id="28" name="Text 22"/>
          <p:cNvSpPr/>
          <p:nvPr/>
        </p:nvSpPr>
        <p:spPr>
          <a:xfrm>
            <a:off x="731520" y="530352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Operation-wise rejection and department-wise production comparisons.</a:t>
            </a:r>
          </a:p>
        </p:txBody>
      </p:sp>
      <p:sp>
        <p:nvSpPr>
          <p:cNvPr id="29" name="Shape 23"/>
          <p:cNvSpPr/>
          <p:nvPr/>
        </p:nvSpPr>
        <p:spPr>
          <a:xfrm>
            <a:off x="4215384" y="420624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98264" y="43891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4" descr="/home/claude/deck/assets/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4489704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547104" y="442569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05</a:t>
            </a:r>
          </a:p>
        </p:txBody>
      </p:sp>
      <p:sp>
        <p:nvSpPr>
          <p:cNvPr id="33" name="Text 26"/>
          <p:cNvSpPr/>
          <p:nvPr/>
        </p:nvSpPr>
        <p:spPr>
          <a:xfrm>
            <a:off x="4398264" y="4956048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</a:p>
        </p:txBody>
      </p:sp>
      <p:sp>
        <p:nvSpPr>
          <p:cNvPr id="34" name="Text 27"/>
          <p:cNvSpPr/>
          <p:nvPr/>
        </p:nvSpPr>
        <p:spPr>
          <a:xfrm>
            <a:off x="4398264" y="530352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costs, average machine costs and cost per unit.</a:t>
            </a:r>
          </a:p>
        </p:txBody>
      </p:sp>
      <p:sp>
        <p:nvSpPr>
          <p:cNvPr id="35" name="Shape 28"/>
          <p:cNvSpPr/>
          <p:nvPr/>
        </p:nvSpPr>
        <p:spPr>
          <a:xfrm>
            <a:off x="7882128" y="420624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65008" y="43891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5" descr="/home/claude/deck/assets/icons/calen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592" y="4489704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213848" y="442569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06</a:t>
            </a:r>
          </a:p>
        </p:txBody>
      </p:sp>
      <p:sp>
        <p:nvSpPr>
          <p:cNvPr id="39" name="Text 31"/>
          <p:cNvSpPr/>
          <p:nvPr/>
        </p:nvSpPr>
        <p:spPr>
          <a:xfrm>
            <a:off x="8065008" y="4956048"/>
            <a:ext cx="3172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Order Analysis</a:t>
            </a:r>
          </a:p>
        </p:txBody>
      </p:sp>
      <p:sp>
        <p:nvSpPr>
          <p:cNvPr id="40" name="Text 32"/>
          <p:cNvSpPr/>
          <p:nvPr/>
        </p:nvSpPr>
        <p:spPr>
          <a:xfrm>
            <a:off x="8065008" y="5303520"/>
            <a:ext cx="3172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percentage and repeat-order percentage.</a:t>
            </a:r>
          </a:p>
        </p:txBody>
      </p:sp>
      <p:sp>
        <p:nvSpPr>
          <p:cNvPr id="41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SQL Queries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representative queries: total work orders, machine-wise rejections, and department-wise production versus rejects.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1116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40280"/>
            <a:ext cx="353872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2402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— Total Work Orders</a:t>
            </a:r>
          </a:p>
        </p:txBody>
      </p:sp>
      <p:sp>
        <p:nvSpPr>
          <p:cNvPr id="8" name="Text 6"/>
          <p:cNvSpPr/>
          <p:nvPr/>
        </p:nvSpPr>
        <p:spPr>
          <a:xfrm>
            <a:off x="713232" y="2807208"/>
            <a:ext cx="32095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COUNT(DISTINCT Doc_Num)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Total_Work_Orders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fact_Production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Doc_Num IS NOT NULL;</a:t>
            </a:r>
          </a:p>
        </p:txBody>
      </p:sp>
      <p:sp>
        <p:nvSpPr>
          <p:cNvPr id="9" name="Shape 7"/>
          <p:cNvSpPr/>
          <p:nvPr/>
        </p:nvSpPr>
        <p:spPr>
          <a:xfrm>
            <a:off x="4215384" y="224028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11163A"/>
          </a:solidFill>
          <a:ln/>
        </p:spPr>
      </p:sp>
      <p:sp>
        <p:nvSpPr>
          <p:cNvPr id="10" name="Shape 8"/>
          <p:cNvSpPr/>
          <p:nvPr/>
        </p:nvSpPr>
        <p:spPr>
          <a:xfrm>
            <a:off x="4215384" y="2240280"/>
            <a:ext cx="353872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79976" y="22402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— Rejected Qty by Machine</a:t>
            </a:r>
          </a:p>
        </p:txBody>
      </p:sp>
      <p:sp>
        <p:nvSpPr>
          <p:cNvPr id="12" name="Text 10"/>
          <p:cNvSpPr/>
          <p:nvPr/>
        </p:nvSpPr>
        <p:spPr>
          <a:xfrm>
            <a:off x="4379976" y="2807208"/>
            <a:ext cx="32095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Machine_Code,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SUM(Rejected_Qty) AS Total_Rejected_Qty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fact_Production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Doc_Num IS NOT NULL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Machine_Code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Total_Rejected_Qty DESC;</a:t>
            </a:r>
          </a:p>
        </p:txBody>
      </p:sp>
      <p:sp>
        <p:nvSpPr>
          <p:cNvPr id="13" name="Shape 11"/>
          <p:cNvSpPr/>
          <p:nvPr/>
        </p:nvSpPr>
        <p:spPr>
          <a:xfrm>
            <a:off x="7882128" y="224028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11163A"/>
          </a:solidFill>
          <a:ln/>
        </p:spPr>
      </p:sp>
      <p:sp>
        <p:nvSpPr>
          <p:cNvPr id="14" name="Shape 12"/>
          <p:cNvSpPr/>
          <p:nvPr/>
        </p:nvSpPr>
        <p:spPr>
          <a:xfrm>
            <a:off x="7882128" y="2240280"/>
            <a:ext cx="3538728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2402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— Produced vs Rejected by Dept</a:t>
            </a:r>
          </a:p>
        </p:txBody>
      </p:sp>
      <p:sp>
        <p:nvSpPr>
          <p:cNvPr id="16" name="Text 14"/>
          <p:cNvSpPr/>
          <p:nvPr/>
        </p:nvSpPr>
        <p:spPr>
          <a:xfrm>
            <a:off x="8046720" y="2807208"/>
            <a:ext cx="32095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Dept_ID,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SUM(Produced_Qty) AS Total_Produced_Qty,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SUM(Rejected_Qty) AS Total_Rejected_Qty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fact_Production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Doc_Num IS NOT NULL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Dept_ID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Dept_ID;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SQL Query Results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314217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the department-wise query (Query 3) from the previous slide.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679977"/>
            <a:ext cx="10698480" cy="4537943"/>
          </a:xfrm>
          <a:prstGeom prst="roundRect">
            <a:avLst>
              <a:gd name="adj" fmla="val 1839"/>
            </a:avLst>
          </a:prstGeom>
          <a:solidFill>
            <a:srgbClr val="EAF1FB"/>
          </a:solidFill>
          <a:ln w="19050">
            <a:solidFill>
              <a:srgbClr val="CADCF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532120" y="35890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assets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37353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748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MYSQL WORKBENCH SCREENSHOT HERE]</a:t>
            </a:r>
          </a:p>
        </p:txBody>
      </p:sp>
      <p:sp>
        <p:nvSpPr>
          <p:cNvPr id="9" name="Text 6"/>
          <p:cNvSpPr/>
          <p:nvPr/>
        </p:nvSpPr>
        <p:spPr>
          <a:xfrm>
            <a:off x="822960" y="461314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Query 3 code and results pane (Dept_ID, Total_Produced_Qty, Total_Rejected_Qty). It demonstrates SUM(), GROUP BY and department comparison.</a:t>
            </a:r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KPI Validation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were calculated with SQL aggregation and compared against Excel and Power BI results for consistency.</a:t>
            </a:r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240280"/>
          <a:ext cx="10698480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04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182880" marR="2286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 marL="182880" marR="2286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A33"/>
                          </a:solidFill>
                          <a:latin typeface="Calibri"/>
                        </a:rPr>
                        <a:t>Total Work Orders</a:t>
                      </a:r>
                    </a:p>
                  </a:txBody>
                  <a:tcPr marL="182880" marR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182880" marR="228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A33"/>
                          </a:solidFill>
                          <a:latin typeface="Calibri"/>
                        </a:rPr>
                        <a:t>Total Manufactured Qty</a:t>
                      </a:r>
                    </a:p>
                  </a:txBody>
                  <a:tcPr marL="182880" marR="228600"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60,050,621</a:t>
                      </a:r>
                    </a:p>
                  </a:txBody>
                  <a:tcPr marL="182880" marR="228600"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A33"/>
                          </a:solidFill>
                          <a:latin typeface="Calibri"/>
                        </a:rPr>
                        <a:t>Total Processed Qty</a:t>
                      </a:r>
                    </a:p>
                  </a:txBody>
                  <a:tcPr marL="182880" marR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60,022,534</a:t>
                      </a:r>
                    </a:p>
                  </a:txBody>
                  <a:tcPr marL="182880" marR="228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A33"/>
                          </a:solidFill>
                          <a:latin typeface="Calibri"/>
                        </a:rPr>
                        <a:t>Total Rejected Qty</a:t>
                      </a:r>
                    </a:p>
                  </a:txBody>
                  <a:tcPr marL="182880" marR="228600"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491,023</a:t>
                      </a:r>
                    </a:p>
                  </a:txBody>
                  <a:tcPr marL="182880" marR="228600"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A33"/>
                          </a:solidFill>
                          <a:latin typeface="Calibri"/>
                        </a:rPr>
                        <a:t>Efficiency Rate %</a:t>
                      </a:r>
                    </a:p>
                  </a:txBody>
                  <a:tcPr marL="182880" marR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100.05%</a:t>
                      </a:r>
                    </a:p>
                  </a:txBody>
                  <a:tcPr marL="182880" marR="228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A33"/>
                          </a:solidFill>
                          <a:latin typeface="Calibri"/>
                        </a:rPr>
                        <a:t>Machine Utilization %</a:t>
                      </a:r>
                    </a:p>
                  </a:txBody>
                  <a:tcPr marL="182880" marR="228600" anchor="ctr"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80.10%</a:t>
                      </a:r>
                    </a:p>
                  </a:txBody>
                  <a:tcPr marL="182880" marR="228600" anchor="ctr">
                    <a:solidFill>
                      <a:srgbClr val="F5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440680"/>
            <a:ext cx="10698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5B6685"/>
                </a:solidFill>
                <a:latin typeface="Calibri"/>
              </a:rPr>
              <a:t>Manufacturing KPIs are validated using SQL aggregation and compared against the corresponding Excel and Power BI results to maintain consistency across the analysis.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Power BI Dashboard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manufacturing analytics dashboard developed using Power BI to monitor production performance, quality, rejection quantities, machine utilization, efficiency, manufacturing costs, delivery performance, and department-wise production.</a:t>
            </a:r>
          </a:p>
        </p:txBody>
      </p:sp>
      <p:sp>
        <p:nvSpPr>
          <p:cNvPr id="5" name="Shape 3"/>
          <p:cNvSpPr/>
          <p:nvPr/>
        </p:nvSpPr>
        <p:spPr>
          <a:xfrm>
            <a:off x="2173269" y="1892808"/>
            <a:ext cx="7842414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Rounded Rectangle 8"/>
          <p:cNvSpPr/>
          <p:nvPr/>
        </p:nvSpPr>
        <p:spPr>
          <a:xfrm>
            <a:off x="2249424" y="1965960"/>
            <a:ext cx="7699248" cy="4389120"/>
          </a:xfrm>
          <a:prstGeom prst="roundRect">
            <a:avLst>
              <a:gd name="adj" fmla="val 3000"/>
            </a:avLst>
          </a:prstGeom>
          <a:solidFill>
            <a:srgbClr val="EAF1FB"/>
          </a:solidFill>
          <a:ln w="19050">
            <a:solidFill>
              <a:srgbClr val="CADC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182880" bIns="18288" rtlCol="0" anchor="ctr"/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[INSERT MANUFACTURING POWER BI DASHBOARD SCREENSHOT HERE]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5B6685"/>
                </a:solidFill>
                <a:latin typeface="Calibri"/>
              </a:rPr>
              <a:t>KPI cards, charts and slicers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Tableau Dashboard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Tableau dashboard exploring production, quality, machine, department and cost performance.</a:t>
            </a:r>
          </a:p>
        </p:txBody>
      </p:sp>
      <p:sp>
        <p:nvSpPr>
          <p:cNvPr id="5" name="Shape 3"/>
          <p:cNvSpPr/>
          <p:nvPr/>
        </p:nvSpPr>
        <p:spPr>
          <a:xfrm>
            <a:off x="1175004" y="1993392"/>
            <a:ext cx="9838944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Rounded Rectangle 8"/>
          <p:cNvSpPr/>
          <p:nvPr/>
        </p:nvSpPr>
        <p:spPr>
          <a:xfrm>
            <a:off x="1243584" y="2066543"/>
            <a:ext cx="9692640" cy="4297680"/>
          </a:xfrm>
          <a:prstGeom prst="roundRect">
            <a:avLst>
              <a:gd name="adj" fmla="val 3000"/>
            </a:avLst>
          </a:prstGeom>
          <a:solidFill>
            <a:srgbClr val="EAF1FB"/>
          </a:solidFill>
          <a:ln w="19050">
            <a:solidFill>
              <a:srgbClr val="CADC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182880" bIns="18288" rtlCol="0" anchor="ctr"/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[INSERT MANUFACTURING TABLEAU DASHBOARD SCREENSHOT HERE]</a:t>
            </a:r>
          </a:p>
          <a:p>
            <a:pPr algn="ctr">
              <a:spcBef>
                <a:spcPts val="600"/>
              </a:spcBef>
            </a:pPr>
            <a:r>
              <a:rPr sz="1100" b="0" i="0">
                <a:solidFill>
                  <a:srgbClr val="5B6685"/>
                </a:solidFill>
                <a:latin typeface="Calibri"/>
              </a:rPr>
              <a:t>Interactive worksheets and filters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Business Insights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assets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933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146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Performance</a:t>
            </a:r>
          </a:p>
        </p:txBody>
      </p:sp>
      <p:sp>
        <p:nvSpPr>
          <p:cNvPr id="8" name="Text 5"/>
          <p:cNvSpPr/>
          <p:nvPr/>
        </p:nvSpPr>
        <p:spPr>
          <a:xfrm>
            <a:off x="731520" y="299008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quantity (60,050,621) is 100.05% of processed quantity (60,022,534). Ordered vs processed comparison: [INSERT FROM POWER BI].</a:t>
            </a:r>
          </a:p>
        </p:txBody>
      </p:sp>
      <p:sp>
        <p:nvSpPr>
          <p:cNvPr id="9" name="Shape 6"/>
          <p:cNvSpPr/>
          <p:nvPr/>
        </p:nvSpPr>
        <p:spPr>
          <a:xfrm>
            <a:off x="4215384" y="1691640"/>
            <a:ext cx="35387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98264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assets/icons/trend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199339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8264" y="25146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Performance</a:t>
            </a:r>
          </a:p>
        </p:txBody>
      </p:sp>
      <p:sp>
        <p:nvSpPr>
          <p:cNvPr id="13" name="Text 9"/>
          <p:cNvSpPr/>
          <p:nvPr/>
        </p:nvSpPr>
        <p:spPr>
          <a:xfrm>
            <a:off x="4398264" y="299008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491,023 units were rejected, a 0.82% rejection rate on manufactured quantity.</a:t>
            </a:r>
          </a:p>
        </p:txBody>
      </p:sp>
      <p:sp>
        <p:nvSpPr>
          <p:cNvPr id="14" name="Shape 10"/>
          <p:cNvSpPr/>
          <p:nvPr/>
        </p:nvSpPr>
        <p:spPr>
          <a:xfrm>
            <a:off x="7882128" y="1691640"/>
            <a:ext cx="35387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65008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/assets/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99339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65008" y="25146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Performance</a:t>
            </a:r>
          </a:p>
        </p:txBody>
      </p:sp>
      <p:sp>
        <p:nvSpPr>
          <p:cNvPr id="18" name="Text 13"/>
          <p:cNvSpPr/>
          <p:nvPr/>
        </p:nvSpPr>
        <p:spPr>
          <a:xfrm>
            <a:off x="8065008" y="299008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machines with the highest rejections against their production volume. Top machine: [INSERT FROM POWER BI].</a:t>
            </a:r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387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eck/assets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32511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84632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Performance</a:t>
            </a:r>
          </a:p>
        </p:txBody>
      </p:sp>
      <p:sp>
        <p:nvSpPr>
          <p:cNvPr id="23" name="Text 17"/>
          <p:cNvSpPr/>
          <p:nvPr/>
        </p:nvSpPr>
        <p:spPr>
          <a:xfrm>
            <a:off x="731520" y="532180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and rejected quantities compared across departments. Department results: [INSERT FROM POWER BI].</a:t>
            </a:r>
          </a:p>
        </p:txBody>
      </p:sp>
      <p:sp>
        <p:nvSpPr>
          <p:cNvPr id="24" name="Shape 18"/>
          <p:cNvSpPr/>
          <p:nvPr/>
        </p:nvSpPr>
        <p:spPr>
          <a:xfrm>
            <a:off x="4215384" y="4023360"/>
            <a:ext cx="35387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98264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eck/assets/icons/credit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432511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98264" y="484632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Cost</a:t>
            </a:r>
          </a:p>
        </p:txBody>
      </p:sp>
      <p:sp>
        <p:nvSpPr>
          <p:cNvPr id="28" name="Text 21"/>
          <p:cNvSpPr/>
          <p:nvPr/>
        </p:nvSpPr>
        <p:spPr>
          <a:xfrm>
            <a:off x="4398264" y="532180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manufacturing cost and cost per unit: [INSERT FROM POWER BI].</a:t>
            </a:r>
          </a:p>
        </p:txBody>
      </p:sp>
      <p:sp>
        <p:nvSpPr>
          <p:cNvPr id="29" name="Shape 22"/>
          <p:cNvSpPr/>
          <p:nvPr/>
        </p:nvSpPr>
        <p:spPr>
          <a:xfrm>
            <a:off x="7882128" y="4023360"/>
            <a:ext cx="35387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65008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deck/assets/icons/cak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432511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65008" y="484632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</a:p>
        </p:txBody>
      </p:sp>
      <p:sp>
        <p:nvSpPr>
          <p:cNvPr id="33" name="Text 25"/>
          <p:cNvSpPr/>
          <p:nvPr/>
        </p:nvSpPr>
        <p:spPr>
          <a:xfrm>
            <a:off x="8065008" y="532180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679 blank placeholder rows were separated from the 10,679-row production table, leaving 10,000 valid records.</a:t>
            </a:r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Recommendations &amp; Future Scope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48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Rejection Patterns</a:t>
            </a:r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machines and operations with high rejection quantities to identify quality improvement opportunities.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99008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Production Efficiency</a:t>
            </a:r>
          </a:p>
        </p:txBody>
      </p:sp>
      <p:sp>
        <p:nvSpPr>
          <p:cNvPr id="12" name="Text 10"/>
          <p:cNvSpPr/>
          <p:nvPr/>
        </p:nvSpPr>
        <p:spPr>
          <a:xfrm>
            <a:off x="1051560" y="333756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ordered, processed and produced quantities to identify differences in production performance.</a:t>
            </a:r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68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95020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Machine Performance</a:t>
            </a:r>
          </a:p>
        </p:txBody>
      </p:sp>
      <p:sp>
        <p:nvSpPr>
          <p:cNvPr id="16" name="Text 14"/>
          <p:cNvSpPr/>
          <p:nvPr/>
        </p:nvSpPr>
        <p:spPr>
          <a:xfrm>
            <a:off x="1051560" y="429768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machine utilization, rejection quantities and operating costs to flag equipment for further investigation.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28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9103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Department-Level Monitoring</a:t>
            </a:r>
          </a:p>
        </p:txBody>
      </p:sp>
      <p:sp>
        <p:nvSpPr>
          <p:cNvPr id="20" name="Text 18"/>
          <p:cNvSpPr/>
          <p:nvPr/>
        </p:nvSpPr>
        <p:spPr>
          <a:xfrm>
            <a:off x="1051560" y="525780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manufactured and rejected quantities across departments to support targeted quality improvement.</a:t>
            </a:r>
          </a:p>
        </p:txBody>
      </p:sp>
      <p:sp>
        <p:nvSpPr>
          <p:cNvPr id="21" name="Shape 19"/>
          <p:cNvSpPr/>
          <p:nvPr/>
        </p:nvSpPr>
        <p:spPr>
          <a:xfrm>
            <a:off x="6309360" y="1783080"/>
            <a:ext cx="0" cy="4434840"/>
          </a:xfrm>
          <a:prstGeom prst="line">
            <a:avLst/>
          </a:prstGeom>
          <a:noFill/>
          <a:ln w="12700">
            <a:solidFill>
              <a:srgbClr val="DCE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0" descr="/home/claude/deck/assets/icons/refr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130552"/>
            <a:ext cx="265176" cy="2651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269480" y="20299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Pipeline</a:t>
            </a:r>
          </a:p>
        </p:txBody>
      </p:sp>
      <p:sp>
        <p:nvSpPr>
          <p:cNvPr id="26" name="Text 23"/>
          <p:cNvSpPr/>
          <p:nvPr/>
        </p:nvSpPr>
        <p:spPr>
          <a:xfrm>
            <a:off x="7269480" y="23774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data ingestion, cleaning and transformation to reduce manual processing.</a:t>
            </a:r>
          </a:p>
        </p:txBody>
      </p:sp>
      <p:sp>
        <p:nvSpPr>
          <p:cNvPr id="27" name="Shape 24"/>
          <p:cNvSpPr/>
          <p:nvPr/>
        </p:nvSpPr>
        <p:spPr>
          <a:xfrm>
            <a:off x="662940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1" descr="/home/claude/deck/assets/icons/chart_up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3090672"/>
            <a:ext cx="265176" cy="26517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69480" y="299008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Quality Analytics</a:t>
            </a:r>
          </a:p>
        </p:txBody>
      </p:sp>
      <p:sp>
        <p:nvSpPr>
          <p:cNvPr id="30" name="Text 26"/>
          <p:cNvSpPr/>
          <p:nvPr/>
        </p:nvSpPr>
        <p:spPr>
          <a:xfrm>
            <a:off x="7269480" y="33375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predictive models to identify production conditions linked to higher rejection rates.</a:t>
            </a:r>
          </a:p>
        </p:txBody>
      </p:sp>
      <p:sp>
        <p:nvSpPr>
          <p:cNvPr id="31" name="Shape 27"/>
          <p:cNvSpPr/>
          <p:nvPr/>
        </p:nvSpPr>
        <p:spPr>
          <a:xfrm>
            <a:off x="662940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2" descr="/home/claude/deck/assets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4050792"/>
            <a:ext cx="265176" cy="2651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269480" y="3950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Prediction</a:t>
            </a:r>
          </a:p>
        </p:txBody>
      </p:sp>
      <p:sp>
        <p:nvSpPr>
          <p:cNvPr id="34" name="Text 29"/>
          <p:cNvSpPr/>
          <p:nvPr/>
        </p:nvSpPr>
        <p:spPr>
          <a:xfrm>
            <a:off x="7269480" y="42976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machine-level data for patterns that may help anticipate equipment failures.</a:t>
            </a:r>
          </a:p>
        </p:txBody>
      </p:sp>
      <p:sp>
        <p:nvSpPr>
          <p:cNvPr id="35" name="Shape 30"/>
          <p:cNvSpPr/>
          <p:nvPr/>
        </p:nvSpPr>
        <p:spPr>
          <a:xfrm>
            <a:off x="662940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3" descr="/home/claude/deck/assets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5010912"/>
            <a:ext cx="265176" cy="26517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269480" y="49103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Manufacturing Monitoring</a:t>
            </a:r>
          </a:p>
        </p:txBody>
      </p:sp>
      <p:sp>
        <p:nvSpPr>
          <p:cNvPr id="38" name="Text 32"/>
          <p:cNvSpPr/>
          <p:nvPr/>
        </p:nvSpPr>
        <p:spPr>
          <a:xfrm>
            <a:off x="7269480" y="52578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updated production data to monitor manufacturing KPIs more frequently.</a:t>
            </a:r>
          </a:p>
        </p:txBody>
      </p:sp>
      <p:sp>
        <p:nvSpPr>
          <p:cNvPr id="39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881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Manufacturing Analytics Dashboard demonstrates how manufacturing data can be transformed into meaningful business insights using Microsoft Excel, MySQL, Power BI, and Tableau.</a:t>
            </a:r>
          </a:p>
          <a:p>
            <a:pPr marL="0" indent="0">
              <a:lnSpc>
                <a:spcPct val="112000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analyzes production quantities, efficiency, machine utilization, manufacturing costs, delivery performance, and quality indicators to provide a comprehensive view of manufacturing operations.</a:t>
            </a:r>
          </a:p>
          <a:p>
            <a:pPr marL="0" indent="0">
              <a:lnSpc>
                <a:spcPct val="112000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comparing rejected quantities across employees, machines, operations, and departments, the analysis supports a better understanding of production quality and identifies areas for further investigation.</a:t>
            </a:r>
          </a:p>
          <a:p>
            <a:pPr marL="0" indent="0">
              <a:lnSpc>
                <a:spcPct val="112000"/>
              </a:lnSpc>
              <a:spcBef>
                <a:spcPts val="400"/>
              </a:spcBef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of data cleaning, SQL analysis, KPI development, and interactive dashboards demonstrates the practical application of end-to-end data analytics in a manufacturing environment.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429000"/>
            <a:ext cx="2606040" cy="73152"/>
          </a:xfrm>
          <a:prstGeom prst="roundRect">
            <a:avLst/>
          </a:prstGeom>
          <a:solidFill>
            <a:srgbClr val="C65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 ORDERS</a:t>
            </a:r>
          </a:p>
        </p:txBody>
      </p:sp>
      <p:sp>
        <p:nvSpPr>
          <p:cNvPr id="10" name="Shape 8"/>
          <p:cNvSpPr/>
          <p:nvPr/>
        </p:nvSpPr>
        <p:spPr>
          <a:xfrm>
            <a:off x="3383280" y="34290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3429000"/>
            <a:ext cx="2606040" cy="73152"/>
          </a:xfrm>
          <a:prstGeom prst="roundRect">
            <a:avLst/>
          </a:prstGeom>
          <a:solidFill>
            <a:srgbClr val="E3B04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60,050,621</a:t>
            </a:r>
          </a:p>
        </p:txBody>
      </p:sp>
      <p:sp>
        <p:nvSpPr>
          <p:cNvPr id="13" name="Text 11"/>
          <p:cNvSpPr/>
          <p:nvPr/>
        </p:nvSpPr>
        <p:spPr>
          <a:xfrm>
            <a:off x="3566160" y="45720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MANUFACTURED QTY</a:t>
            </a:r>
          </a:p>
        </p:txBody>
      </p:sp>
      <p:sp>
        <p:nvSpPr>
          <p:cNvPr id="14" name="Shape 12"/>
          <p:cNvSpPr/>
          <p:nvPr/>
        </p:nvSpPr>
        <p:spPr>
          <a:xfrm>
            <a:off x="6217920" y="34290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3429000"/>
            <a:ext cx="2606040" cy="73152"/>
          </a:xfrm>
          <a:prstGeom prst="roundRect">
            <a:avLst/>
          </a:prstGeom>
          <a:solidFill>
            <a:srgbClr val="C65B4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491,023</a:t>
            </a:r>
          </a:p>
        </p:txBody>
      </p:sp>
      <p:sp>
        <p:nvSpPr>
          <p:cNvPr id="17" name="Text 15"/>
          <p:cNvSpPr/>
          <p:nvPr/>
        </p:nvSpPr>
        <p:spPr>
          <a:xfrm>
            <a:off x="6400800" y="45720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REJECTED QTY</a:t>
            </a:r>
          </a:p>
        </p:txBody>
      </p:sp>
      <p:sp>
        <p:nvSpPr>
          <p:cNvPr id="18" name="Shape 16"/>
          <p:cNvSpPr/>
          <p:nvPr/>
        </p:nvSpPr>
        <p:spPr>
          <a:xfrm>
            <a:off x="9052560" y="34290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3429000"/>
            <a:ext cx="2606040" cy="73152"/>
          </a:xfrm>
          <a:prstGeom prst="roundRect">
            <a:avLst/>
          </a:prstGeom>
          <a:solidFill>
            <a:srgbClr val="3E8E6E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3794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100.05%</a:t>
            </a:r>
          </a:p>
        </p:txBody>
      </p:sp>
      <p:sp>
        <p:nvSpPr>
          <p:cNvPr id="21" name="Text 19"/>
          <p:cNvSpPr/>
          <p:nvPr/>
        </p:nvSpPr>
        <p:spPr>
          <a:xfrm>
            <a:off x="9235440" y="45720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RATE</a:t>
            </a:r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how data-driven analysis can support manufacturing performance monitoring, quality improvement, and informed operational decision-making.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11480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are welcome.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3840480" cy="0"/>
          </a:xfrm>
          <a:prstGeom prst="line">
            <a:avLst/>
          </a:prstGeom>
          <a:noFill/>
          <a:ln w="12700">
            <a:solidFill>
              <a:srgbClr val="5B66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45902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kern="0" spc="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Analytics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2001</Words>
  <Application>Microsoft Office PowerPoint</Application>
  <PresentationFormat>Widescreen</PresentationFormat>
  <Paragraphs>382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H PRASHANTH</cp:lastModifiedBy>
  <cp:revision>6</cp:revision>
  <dcterms:created xsi:type="dcterms:W3CDTF">2026-07-28T05:53:43Z</dcterms:created>
  <dcterms:modified xsi:type="dcterms:W3CDTF">2026-10-16T09:02:35Z</dcterms:modified>
</cp:coreProperties>
</file>